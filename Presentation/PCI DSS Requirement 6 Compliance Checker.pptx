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96" r:id="rId5"/>
    <p:sldId id="297" r:id="rId6"/>
    <p:sldId id="286" r:id="rId7"/>
    <p:sldId id="261" r:id="rId8"/>
    <p:sldId id="285" r:id="rId9"/>
    <p:sldId id="263" r:id="rId10"/>
    <p:sldId id="265" r:id="rId11"/>
    <p:sldId id="262" r:id="rId12"/>
    <p:sldId id="278" r:id="rId13"/>
    <p:sldId id="267" r:id="rId14"/>
    <p:sldId id="298" r:id="rId15"/>
    <p:sldId id="299" r:id="rId16"/>
    <p:sldId id="300" r:id="rId17"/>
    <p:sldId id="302" r:id="rId18"/>
    <p:sldId id="303" r:id="rId19"/>
    <p:sldId id="28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7887" autoAdjust="0"/>
  </p:normalViewPr>
  <p:slideViewPr>
    <p:cSldViewPr snapToGrid="0" showGuides="1">
      <p:cViewPr varScale="1">
        <p:scale>
          <a:sx n="72" d="100"/>
          <a:sy n="72" d="100"/>
        </p:scale>
        <p:origin x="1104" y="6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Lst>
  <dgm:cxnLst>
    <dgm:cxn modelId="{403E30EA-CA23-4A5A-9D22-DF82F93CFF08}" type="presOf" srcId="{A66480AC-C0DE-4E5E-9ECD-9AE37E3FCB79}" destId="{9FFA803F-EA25-49D8-A073-96E9747E345F}" srcOrd="0" destOrd="0" presId="urn:microsoft.com/office/officeart/2016/7/layout/BasicTimeline"/>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956594"/>
          <a:ext cx="6619875"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12/30/2025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12/30/2025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10</a:t>
            </a:fld>
            <a:endParaRPr lang="en-US" noProof="0" dirty="0"/>
          </a:p>
        </p:txBody>
      </p:sp>
    </p:spTree>
    <p:extLst>
      <p:ext uri="{BB962C8B-B14F-4D97-AF65-F5344CB8AC3E}">
        <p14:creationId xmlns:p14="http://schemas.microsoft.com/office/powerpoint/2010/main" val="1263841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224590"/>
            <a:ext cx="10954512" cy="2679032"/>
          </a:xfrm>
        </p:spPr>
        <p:txBody>
          <a:bodyPr anchor="b"/>
          <a:lstStyle/>
          <a:p>
            <a:r>
              <a:rPr lang="en-US" dirty="0"/>
              <a:t>PCI DSS Requirement 6 Compliance Checker</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en-US" dirty="0"/>
              <a:t>Automated Code Security Analysis Tool</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dirty="0"/>
              <a:t>Introduction</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65960"/>
            <a:ext cx="4050792" cy="2953512"/>
          </a:xfrm>
          <a:noFill/>
        </p:spPr>
        <p:txBody>
          <a:bodyPr>
            <a:noAutofit/>
          </a:bodyPr>
          <a:lstStyle/>
          <a:p>
            <a:r>
              <a:rPr lang="en-US" dirty="0"/>
              <a:t>-Overview of the project</a:t>
            </a:r>
          </a:p>
          <a:p>
            <a:r>
              <a:rPr lang="en-US" dirty="0"/>
              <a:t>-Importance of protecting payment card data</a:t>
            </a:r>
          </a:p>
          <a:p>
            <a:r>
              <a:rPr lang="en-US" dirty="0"/>
              <a:t>-Real-time security feedback for developers</a:t>
            </a:r>
          </a:p>
          <a:p>
            <a:endParaRPr lang="en-US" dirty="0"/>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749167" y="1417322"/>
            <a:ext cx="7998593" cy="1874517"/>
          </a:xfrm>
          <a:noFill/>
          <a:ln>
            <a:noFill/>
          </a:ln>
        </p:spPr>
        <p:txBody>
          <a:bodyPr>
            <a:noAutofit/>
          </a:bodyPr>
          <a:lstStyle/>
          <a:p>
            <a:r>
              <a:rPr lang="en-US" dirty="0"/>
              <a:t>Problem Statement</a:t>
            </a:r>
            <a:br>
              <a:rPr lang="en-US" dirty="0"/>
            </a:br>
            <a:endParaRPr lang="en-US" dirty="0"/>
          </a:p>
        </p:txBody>
      </p:sp>
      <p:sp>
        <p:nvSpPr>
          <p:cNvPr id="4" name="Rectangle 1">
            <a:extLst>
              <a:ext uri="{FF2B5EF4-FFF2-40B4-BE49-F238E27FC236}">
                <a16:creationId xmlns:a16="http://schemas.microsoft.com/office/drawing/2014/main" id="{E4851253-F553-0475-72B2-F7820568BC55}"/>
              </a:ext>
            </a:extLst>
          </p:cNvPr>
          <p:cNvSpPr>
            <a:spLocks noGrp="1" noChangeArrowheads="1"/>
          </p:cNvSpPr>
          <p:nvPr>
            <p:ph type="subTitle" idx="1"/>
          </p:nvPr>
        </p:nvSpPr>
        <p:spPr bwMode="auto">
          <a:xfrm>
            <a:off x="1236980" y="2550499"/>
            <a:ext cx="99949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Average cost of breaches in 2024: $4.5M+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Common coding vulnerabilities: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Hardcoded credentials &amp; API keys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SQL injection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Weak cryptography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Insecure data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audits are late, manual, and costly</a:t>
            </a:r>
          </a:p>
        </p:txBody>
      </p:sp>
    </p:spTree>
    <p:extLst>
      <p:ext uri="{BB962C8B-B14F-4D97-AF65-F5344CB8AC3E}">
        <p14:creationId xmlns:p14="http://schemas.microsoft.com/office/powerpoint/2010/main" val="11850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r>
              <a:rPr lang="en-US" dirty="0"/>
              <a:t>Solution Overview</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3575304" y="2313432"/>
            <a:ext cx="6327648" cy="3218688"/>
          </a:xfrm>
          <a:noFill/>
        </p:spPr>
        <p:txBody>
          <a:bodyPr>
            <a:noAutofit/>
          </a:bodyPr>
          <a:lstStyle/>
          <a:p>
            <a:r>
              <a:rPr lang="en-US" dirty="0"/>
              <a:t>Machine Learning Classification for code context</a:t>
            </a:r>
          </a:p>
          <a:p>
            <a:r>
              <a:rPr lang="en-US" dirty="0"/>
              <a:t>Pattern-based detection for known vulnerabilities</a:t>
            </a:r>
          </a:p>
          <a:p>
            <a:r>
              <a:rPr lang="en-US" dirty="0"/>
              <a:t>Compliance scoring (1–5 scale)</a:t>
            </a:r>
          </a:p>
          <a:p>
            <a:r>
              <a:rPr lang="en-US" dirty="0"/>
              <a:t>Dual interface: CLI &amp; API </a:t>
            </a:r>
            <a:r>
              <a:rPr lang="en-US"/>
              <a:t>and GUI</a:t>
            </a:r>
            <a:endParaRPr lang="en-US" dirty="0"/>
          </a:p>
          <a:p>
            <a:r>
              <a:rPr lang="en-US" dirty="0"/>
              <a:t>Immediate, actionable feedback for developers</a:t>
            </a:r>
          </a:p>
          <a:p>
            <a:endParaRPr lang="en-US" dirty="0"/>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3709416" y="1103694"/>
            <a:ext cx="7004304" cy="1420368"/>
          </a:xfrm>
          <a:noFill/>
        </p:spPr>
        <p:txBody>
          <a:bodyPr>
            <a:noAutofit/>
          </a:bodyPr>
          <a:lstStyle/>
          <a:p>
            <a:r>
              <a:rPr lang="en-US" dirty="0"/>
              <a:t>Objectives</a:t>
            </a:r>
          </a:p>
        </p:txBody>
      </p:sp>
      <p:sp>
        <p:nvSpPr>
          <p:cNvPr id="5" name="Rectangle 2">
            <a:extLst>
              <a:ext uri="{FF2B5EF4-FFF2-40B4-BE49-F238E27FC236}">
                <a16:creationId xmlns:a16="http://schemas.microsoft.com/office/drawing/2014/main" id="{E4E061AE-EF2A-C446-7154-65BE39D23630}"/>
              </a:ext>
            </a:extLst>
          </p:cNvPr>
          <p:cNvSpPr>
            <a:spLocks noGrp="1" noChangeArrowheads="1"/>
          </p:cNvSpPr>
          <p:nvPr>
            <p:ph type="subTitle" idx="1"/>
          </p:nvPr>
        </p:nvSpPr>
        <p:spPr bwMode="auto">
          <a:xfrm>
            <a:off x="5416550" y="1813878"/>
            <a:ext cx="7004050" cy="425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 security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Align with PCI DSS Requirement 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Educate developers on secure 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Integration with CI/CD pipelines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 false positives while detecting real vulnerabilities</a:t>
            </a:r>
          </a:p>
        </p:txBody>
      </p:sp>
    </p:spTree>
    <p:extLst>
      <p:ext uri="{BB962C8B-B14F-4D97-AF65-F5344CB8AC3E}">
        <p14:creationId xmlns:p14="http://schemas.microsoft.com/office/powerpoint/2010/main" val="137173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78992" y="365760"/>
            <a:ext cx="10506456" cy="1655064"/>
          </a:xfrm>
          <a:noFill/>
        </p:spPr>
        <p:txBody>
          <a:bodyPr>
            <a:noAutofit/>
          </a:bodyPr>
          <a:lstStyle/>
          <a:p>
            <a:r>
              <a:rPr lang="en-US" dirty="0"/>
              <a:t>Intended Audience</a:t>
            </a:r>
          </a:p>
        </p:txBody>
      </p:sp>
      <p:graphicFrame>
        <p:nvGraphicFramePr>
          <p:cNvPr id="14" name="Content Placeholder 13" descr="A timeline of the product launch">
            <a:extLst>
              <a:ext uri="{FF2B5EF4-FFF2-40B4-BE49-F238E27FC236}">
                <a16:creationId xmlns:a16="http://schemas.microsoft.com/office/drawing/2014/main" id="{A7FD81E4-2CEB-1301-59FF-81509B86E571}"/>
              </a:ext>
            </a:extLst>
          </p:cNvPr>
          <p:cNvGraphicFramePr>
            <a:graphicFrameLocks noGrp="1"/>
          </p:cNvGraphicFramePr>
          <p:nvPr>
            <p:ph sz="half" idx="2"/>
            <p:extLst>
              <p:ext uri="{D42A27DB-BD31-4B8C-83A1-F6EECF244321}">
                <p14:modId xmlns:p14="http://schemas.microsoft.com/office/powerpoint/2010/main" val="2897835708"/>
              </p:ext>
            </p:extLst>
          </p:nvPr>
        </p:nvGraphicFramePr>
        <p:xfrm>
          <a:off x="4737100" y="1920875"/>
          <a:ext cx="6619875" cy="3913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sp>
        <p:nvSpPr>
          <p:cNvPr id="4" name="Rectangle 1">
            <a:extLst>
              <a:ext uri="{FF2B5EF4-FFF2-40B4-BE49-F238E27FC236}">
                <a16:creationId xmlns:a16="http://schemas.microsoft.com/office/drawing/2014/main" id="{8E3804EF-43AE-4866-9646-89B83F3D3F4B}"/>
              </a:ext>
            </a:extLst>
          </p:cNvPr>
          <p:cNvSpPr>
            <a:spLocks noGrp="1" noChangeArrowheads="1"/>
          </p:cNvSpPr>
          <p:nvPr>
            <p:ph sz="half" idx="1"/>
          </p:nvPr>
        </p:nvSpPr>
        <p:spPr bwMode="auto">
          <a:xfrm>
            <a:off x="1003300" y="2420938"/>
            <a:ext cx="9188450" cy="341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Software Developers (payment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Security Engineers (code audits)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DevOps Teams (secure deployments)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Compliance Officers (PCI DSS adherence)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Educational Institutions (teaching secure coding)</a:t>
            </a:r>
          </a:p>
        </p:txBody>
      </p:sp>
    </p:spTree>
    <p:extLst>
      <p:ext uri="{BB962C8B-B14F-4D97-AF65-F5344CB8AC3E}">
        <p14:creationId xmlns:p14="http://schemas.microsoft.com/office/powerpoint/2010/main" val="2737241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r>
              <a:rPr lang="en-US" dirty="0"/>
              <a:t>Success Criteria</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
        <p:nvSpPr>
          <p:cNvPr id="5" name="Rectangle 2">
            <a:extLst>
              <a:ext uri="{FF2B5EF4-FFF2-40B4-BE49-F238E27FC236}">
                <a16:creationId xmlns:a16="http://schemas.microsoft.com/office/drawing/2014/main" id="{08F630AE-2959-B38F-69C7-956BC7E74552}"/>
              </a:ext>
            </a:extLst>
          </p:cNvPr>
          <p:cNvSpPr>
            <a:spLocks noGrp="1" noChangeArrowheads="1"/>
          </p:cNvSpPr>
          <p:nvPr>
            <p:ph idx="1"/>
          </p:nvPr>
        </p:nvSpPr>
        <p:spPr bwMode="auto">
          <a:xfrm>
            <a:off x="3575050" y="2276475"/>
            <a:ext cx="6327775" cy="309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Detect common vulnerabilities with &gt;85%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practical remediation suggestions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Process code analysis in &lt;2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Smooth CI/CD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Reduce security flaws in reviewed codebases</a:t>
            </a:r>
          </a:p>
        </p:txBody>
      </p:sp>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1078992" y="365760"/>
            <a:ext cx="10277856" cy="1655064"/>
          </a:xfrm>
          <a:noFill/>
        </p:spPr>
        <p:txBody>
          <a:bodyPr>
            <a:noAutofit/>
          </a:bodyPr>
          <a:lstStyle/>
          <a:p>
            <a:r>
              <a:rPr lang="en-US" dirty="0"/>
              <a:t>PCI DSS Overview</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3575304" y="2441448"/>
            <a:ext cx="3602736" cy="3575304"/>
          </a:xfrm>
          <a:noFill/>
        </p:spPr>
        <p:txBody>
          <a:bodyPr vert="horz" lIns="91440" tIns="45720" rIns="91440" bIns="45720" rtlCol="0" anchor="t">
            <a:noAutofit/>
          </a:bodyPr>
          <a:lstStyle/>
          <a:p>
            <a:r>
              <a:rPr lang="en-US" dirty="0"/>
              <a:t>Framework for protecting payment card data</a:t>
            </a:r>
          </a:p>
          <a:p>
            <a:endParaRPr lang="en-US" dirty="0"/>
          </a:p>
          <a:p>
            <a:r>
              <a:rPr lang="en-US" dirty="0"/>
              <a:t>Applies to all entities handling card info</a:t>
            </a:r>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idx="13"/>
          </p:nvPr>
        </p:nvSpPr>
        <p:spPr>
          <a:xfrm>
            <a:off x="7671816" y="2441448"/>
            <a:ext cx="3602736" cy="3575304"/>
          </a:xfrm>
          <a:noFill/>
        </p:spPr>
        <p:txBody>
          <a:bodyPr vert="horz" lIns="91440" tIns="45720" rIns="91440" bIns="45720" rtlCol="0" anchor="t">
            <a:normAutofit/>
          </a:bodyPr>
          <a:lstStyle/>
          <a:p>
            <a:r>
              <a:rPr lang="en-US" dirty="0"/>
              <a:t>Developed by Visa, Mastercard, AmEx, Discover, JCB</a:t>
            </a:r>
          </a:p>
          <a:p>
            <a:endParaRPr lang="en-US" dirty="0"/>
          </a:p>
          <a:p>
            <a:r>
              <a:rPr lang="en-US" dirty="0"/>
              <a:t>12 requirements: Network security, access control, monitoring, secure development</a:t>
            </a:r>
          </a:p>
          <a:p>
            <a:endParaRPr lang="en-US" dirty="0"/>
          </a:p>
        </p:txBody>
      </p:sp>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Tree>
    <p:extLst>
      <p:ext uri="{BB962C8B-B14F-4D97-AF65-F5344CB8AC3E}">
        <p14:creationId xmlns:p14="http://schemas.microsoft.com/office/powerpoint/2010/main" val="121080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078992" y="365760"/>
            <a:ext cx="10277856" cy="1655064"/>
          </a:xfrm>
          <a:noFill/>
        </p:spPr>
        <p:txBody>
          <a:bodyPr>
            <a:noAutofit/>
          </a:bodyPr>
          <a:lstStyle/>
          <a:p>
            <a:r>
              <a:rPr lang="en-US" dirty="0"/>
              <a:t>Secure Development</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idx="1"/>
          </p:nvPr>
        </p:nvSpPr>
        <p:spPr>
          <a:xfrm>
            <a:off x="1265238" y="2457450"/>
            <a:ext cx="6324281" cy="3090672"/>
          </a:xfrm>
          <a:noFill/>
        </p:spPr>
        <p:txBody>
          <a:bodyPr vert="horz" lIns="91440" tIns="45720" rIns="91440" bIns="45720" rtlCol="0" anchor="t">
            <a:normAutofit/>
          </a:bodyPr>
          <a:lstStyle/>
          <a:p>
            <a:r>
              <a:rPr lang="en-US" dirty="0"/>
              <a:t>Identify &amp; fix security vulnerabilities</a:t>
            </a:r>
          </a:p>
          <a:p>
            <a:r>
              <a:rPr lang="en-US" dirty="0"/>
              <a:t>Secure software development lifecycle</a:t>
            </a:r>
          </a:p>
          <a:p>
            <a:r>
              <a:rPr lang="en-US" dirty="0"/>
              <a:t>Protect production data</a:t>
            </a:r>
          </a:p>
          <a:p>
            <a:r>
              <a:rPr lang="en-US" dirty="0"/>
              <a:t>Controlled changes with proper documentation</a:t>
            </a:r>
          </a:p>
          <a:p>
            <a:r>
              <a:rPr lang="en-US" dirty="0"/>
              <a:t>Prevent common weaknesses (SQLi, XSS, buffer overflow, weak crypto, insecure storage)</a:t>
            </a:r>
          </a:p>
        </p:txBody>
      </p:sp>
      <p:sp>
        <p:nvSpPr>
          <p:cNvPr id="9" name="Slide Number Placeholder 8">
            <a:extLst>
              <a:ext uri="{FF2B5EF4-FFF2-40B4-BE49-F238E27FC236}">
                <a16:creationId xmlns:a16="http://schemas.microsoft.com/office/drawing/2014/main" id="{DAF3F922-669F-7D93-0C1C-D5B16E3975B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078992" y="365760"/>
            <a:ext cx="10277856" cy="1655064"/>
          </a:xfrm>
          <a:noFill/>
        </p:spPr>
        <p:txBody>
          <a:bodyPr>
            <a:noAutofit/>
          </a:bodyPr>
          <a:lstStyle/>
          <a:p>
            <a:r>
              <a:rPr lang="en-US" dirty="0"/>
              <a:t>System Architecture</a:t>
            </a:r>
          </a:p>
        </p:txBody>
      </p:sp>
      <p:sp>
        <p:nvSpPr>
          <p:cNvPr id="3" name="Slide Number Placeholder 2">
            <a:extLst>
              <a:ext uri="{FF2B5EF4-FFF2-40B4-BE49-F238E27FC236}">
                <a16:creationId xmlns:a16="http://schemas.microsoft.com/office/drawing/2014/main" id="{CAEAF320-61B9-87FA-4DF5-7C3B0DC125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
        <p:nvSpPr>
          <p:cNvPr id="6" name="Content Placeholder 5">
            <a:extLst>
              <a:ext uri="{FF2B5EF4-FFF2-40B4-BE49-F238E27FC236}">
                <a16:creationId xmlns:a16="http://schemas.microsoft.com/office/drawing/2014/main" id="{7B244EFD-ADE4-2A9C-FE97-FD37B9ECE80B}"/>
              </a:ext>
            </a:extLst>
          </p:cNvPr>
          <p:cNvSpPr>
            <a:spLocks noGrp="1"/>
          </p:cNvSpPr>
          <p:nvPr>
            <p:ph idx="13"/>
          </p:nvPr>
        </p:nvSpPr>
        <p:spPr/>
        <p:txBody>
          <a:bodyPr/>
          <a:lstStyle/>
          <a:p>
            <a:r>
              <a:rPr lang="en-US" dirty="0"/>
              <a:t>High-Level Modules:</a:t>
            </a:r>
            <a:endParaRPr lang="ar-EG" dirty="0"/>
          </a:p>
          <a:p>
            <a:r>
              <a:rPr lang="ar-EG" dirty="0"/>
              <a:t>	</a:t>
            </a:r>
            <a:r>
              <a:rPr lang="en-US" dirty="0"/>
              <a:t>CLI / Console Interface</a:t>
            </a:r>
            <a:endParaRPr lang="ar-EG" dirty="0"/>
          </a:p>
          <a:p>
            <a:r>
              <a:rPr lang="ar-EG" dirty="0"/>
              <a:t>	</a:t>
            </a:r>
            <a:r>
              <a:rPr lang="en-US" dirty="0"/>
              <a:t>Code Analysis Engine</a:t>
            </a:r>
            <a:endParaRPr lang="ar-EG" dirty="0"/>
          </a:p>
          <a:p>
            <a:r>
              <a:rPr lang="ar-EG" dirty="0"/>
              <a:t>	</a:t>
            </a:r>
            <a:r>
              <a:rPr lang="en-US" dirty="0"/>
              <a:t>Compliance Scoring Module</a:t>
            </a:r>
            <a:endParaRPr lang="ar-EG" dirty="0"/>
          </a:p>
          <a:p>
            <a:r>
              <a:rPr lang="ar-EG" dirty="0"/>
              <a:t>	</a:t>
            </a:r>
            <a:r>
              <a:rPr lang="en-US" dirty="0"/>
              <a:t>Rules &amp; Knowledge Base</a:t>
            </a:r>
            <a:endParaRPr lang="ar-EG" dirty="0"/>
          </a:p>
          <a:p>
            <a:r>
              <a:rPr lang="ar-EG" dirty="0"/>
              <a:t>	</a:t>
            </a:r>
            <a:r>
              <a:rPr lang="en-US" dirty="0"/>
              <a:t>Data Storage Module</a:t>
            </a:r>
            <a:endParaRPr lang="ar-EG" dirty="0"/>
          </a:p>
          <a:p>
            <a:r>
              <a:rPr lang="ar-EG" dirty="0"/>
              <a:t>	</a:t>
            </a:r>
            <a:r>
              <a:rPr lang="en-US" dirty="0"/>
              <a:t>Integration / Automation Layer</a:t>
            </a:r>
          </a:p>
        </p:txBody>
      </p:sp>
    </p:spTree>
    <p:extLst>
      <p:ext uri="{BB962C8B-B14F-4D97-AF65-F5344CB8AC3E}">
        <p14:creationId xmlns:p14="http://schemas.microsoft.com/office/powerpoint/2010/main" val="3604630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A9CF1-DB7B-BB2A-6D04-AEA29F4029F8}"/>
              </a:ext>
            </a:extLst>
          </p:cNvPr>
          <p:cNvSpPr>
            <a:spLocks noGrp="1"/>
          </p:cNvSpPr>
          <p:nvPr>
            <p:ph type="title"/>
          </p:nvPr>
        </p:nvSpPr>
        <p:spPr/>
        <p:txBody>
          <a:bodyPr/>
          <a:lstStyle/>
          <a:p>
            <a:r>
              <a:rPr lang="en-US" dirty="0"/>
              <a:t>Implementation</a:t>
            </a:r>
            <a:br>
              <a:rPr lang="en-US" dirty="0"/>
            </a:br>
            <a:endParaRPr lang="en-US" dirty="0"/>
          </a:p>
        </p:txBody>
      </p:sp>
      <p:sp>
        <p:nvSpPr>
          <p:cNvPr id="3" name="Content Placeholder 2">
            <a:extLst>
              <a:ext uri="{FF2B5EF4-FFF2-40B4-BE49-F238E27FC236}">
                <a16:creationId xmlns:a16="http://schemas.microsoft.com/office/drawing/2014/main" id="{2056C948-2494-0710-217E-467A790796E6}"/>
              </a:ext>
            </a:extLst>
          </p:cNvPr>
          <p:cNvSpPr>
            <a:spLocks noGrp="1"/>
          </p:cNvSpPr>
          <p:nvPr>
            <p:ph idx="13"/>
          </p:nvPr>
        </p:nvSpPr>
        <p:spPr/>
        <p:txBody>
          <a:bodyPr/>
          <a:lstStyle/>
          <a:p>
            <a:r>
              <a:rPr lang="en-US" b="1" dirty="0"/>
              <a:t>Tech Stack:</a:t>
            </a:r>
            <a:r>
              <a:rPr lang="en-US" dirty="0"/>
              <a:t> Python, Regex, ML model (optional), JSON output</a:t>
            </a:r>
            <a:endParaRPr lang="ar-EG" dirty="0"/>
          </a:p>
          <a:p>
            <a:r>
              <a:rPr lang="en-US" dirty="0"/>
              <a:t>Workflow:</a:t>
            </a:r>
            <a:endParaRPr lang="ar-EG" dirty="0"/>
          </a:p>
          <a:p>
            <a:r>
              <a:rPr lang="ar-EG" dirty="0"/>
              <a:t>	</a:t>
            </a:r>
            <a:r>
              <a:rPr lang="en-US" dirty="0"/>
              <a:t>Developer submits code via CLI or API</a:t>
            </a:r>
            <a:endParaRPr lang="ar-EG" dirty="0"/>
          </a:p>
          <a:p>
            <a:r>
              <a:rPr lang="ar-EG" dirty="0"/>
              <a:t>	</a:t>
            </a:r>
            <a:r>
              <a:rPr lang="en-US" dirty="0"/>
              <a:t>Code Analysis Engine scans for vulnerabilities</a:t>
            </a:r>
            <a:endParaRPr lang="ar-EG" dirty="0"/>
          </a:p>
          <a:p>
            <a:r>
              <a:rPr lang="ar-EG" dirty="0"/>
              <a:t>	</a:t>
            </a:r>
            <a:r>
              <a:rPr lang="en-US" dirty="0"/>
              <a:t>Scoring Module computes PCI DSS compliance</a:t>
            </a:r>
            <a:endParaRPr lang="ar-EG" dirty="0"/>
          </a:p>
          <a:p>
            <a:r>
              <a:rPr lang="ar-EG" dirty="0"/>
              <a:t>	</a:t>
            </a:r>
            <a:r>
              <a:rPr lang="en-US" dirty="0"/>
              <a:t>Feedback &amp; remediation guidance provided</a:t>
            </a:r>
            <a:endParaRPr lang="ar-EG" dirty="0"/>
          </a:p>
          <a:p>
            <a:r>
              <a:rPr lang="en-US" b="1" dirty="0"/>
              <a:t>Integration:</a:t>
            </a:r>
            <a:r>
              <a:rPr lang="en-US" dirty="0"/>
              <a:t> Compatible with CI/CD pipelines</a:t>
            </a:r>
          </a:p>
        </p:txBody>
      </p:sp>
      <p:sp>
        <p:nvSpPr>
          <p:cNvPr id="4" name="Slide Number Placeholder 3">
            <a:extLst>
              <a:ext uri="{FF2B5EF4-FFF2-40B4-BE49-F238E27FC236}">
                <a16:creationId xmlns:a16="http://schemas.microsoft.com/office/drawing/2014/main" id="{4308FDD7-2848-6681-F654-E66E67C04113}"/>
              </a:ext>
            </a:extLst>
          </p:cNvPr>
          <p:cNvSpPr>
            <a:spLocks noGrp="1"/>
          </p:cNvSpPr>
          <p:nvPr>
            <p:ph type="sldNum" sz="quarter" idx="12"/>
          </p:nvPr>
        </p:nvSpPr>
        <p:spPr/>
        <p:txBody>
          <a:bodyPr/>
          <a:lstStyle/>
          <a:p>
            <a:fld id="{CBD12358-51D2-46B3-9BDE-DF29528B9454}" type="slidenum">
              <a:rPr lang="en-US" smtClean="0"/>
              <a:t>11</a:t>
            </a:fld>
            <a:endParaRPr lang="en-US" dirty="0"/>
          </a:p>
        </p:txBody>
      </p:sp>
    </p:spTree>
    <p:extLst>
      <p:ext uri="{BB962C8B-B14F-4D97-AF65-F5344CB8AC3E}">
        <p14:creationId xmlns:p14="http://schemas.microsoft.com/office/powerpoint/2010/main" val="1092879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708C-B557-82A7-690D-A614003C78AF}"/>
              </a:ext>
            </a:extLst>
          </p:cNvPr>
          <p:cNvSpPr>
            <a:spLocks noGrp="1"/>
          </p:cNvSpPr>
          <p:nvPr>
            <p:ph type="title"/>
          </p:nvPr>
        </p:nvSpPr>
        <p:spPr/>
        <p:txBody>
          <a:bodyPr/>
          <a:lstStyle/>
          <a:p>
            <a:r>
              <a:rPr lang="en-US" dirty="0"/>
              <a:t>Sample Code Input</a:t>
            </a:r>
          </a:p>
        </p:txBody>
      </p:sp>
      <p:sp>
        <p:nvSpPr>
          <p:cNvPr id="3" name="Content Placeholder 2">
            <a:extLst>
              <a:ext uri="{FF2B5EF4-FFF2-40B4-BE49-F238E27FC236}">
                <a16:creationId xmlns:a16="http://schemas.microsoft.com/office/drawing/2014/main" id="{4E66C124-AB05-8F0E-BA3B-28F5FDBF8953}"/>
              </a:ext>
            </a:extLst>
          </p:cNvPr>
          <p:cNvSpPr>
            <a:spLocks noGrp="1"/>
          </p:cNvSpPr>
          <p:nvPr>
            <p:ph idx="13"/>
          </p:nvPr>
        </p:nvSpPr>
        <p:spPr/>
        <p:txBody>
          <a:bodyPr/>
          <a:lstStyle/>
          <a:p>
            <a:r>
              <a:rPr lang="en-US" dirty="0"/>
              <a:t># Example vulnerable code</a:t>
            </a:r>
          </a:p>
          <a:p>
            <a:r>
              <a:rPr lang="en-US" dirty="0" err="1"/>
              <a:t>db.execute</a:t>
            </a:r>
            <a:r>
              <a:rPr lang="en-US" dirty="0"/>
              <a:t>("SELECT * FROM users WHERE id = " + </a:t>
            </a:r>
            <a:r>
              <a:rPr lang="en-US" dirty="0" err="1"/>
              <a:t>user_input</a:t>
            </a:r>
            <a:r>
              <a:rPr lang="en-US" dirty="0"/>
              <a:t>)</a:t>
            </a:r>
          </a:p>
          <a:p>
            <a:r>
              <a:rPr lang="en-US" dirty="0"/>
              <a:t>password = "12345"  # Hardcoded</a:t>
            </a:r>
          </a:p>
          <a:p>
            <a:endParaRPr lang="en-US" dirty="0"/>
          </a:p>
        </p:txBody>
      </p:sp>
      <p:sp>
        <p:nvSpPr>
          <p:cNvPr id="4" name="Slide Number Placeholder 3">
            <a:extLst>
              <a:ext uri="{FF2B5EF4-FFF2-40B4-BE49-F238E27FC236}">
                <a16:creationId xmlns:a16="http://schemas.microsoft.com/office/drawing/2014/main" id="{57695D19-2CFB-9AFC-D17A-09191E571326}"/>
              </a:ext>
            </a:extLst>
          </p:cNvPr>
          <p:cNvSpPr>
            <a:spLocks noGrp="1"/>
          </p:cNvSpPr>
          <p:nvPr>
            <p:ph type="sldNum" sz="quarter" idx="12"/>
          </p:nvPr>
        </p:nvSpPr>
        <p:spPr/>
        <p:txBody>
          <a:bodyPr/>
          <a:lstStyle/>
          <a:p>
            <a:fld id="{CBD12358-51D2-46B3-9BDE-DF29528B9454}" type="slidenum">
              <a:rPr lang="en-US" smtClean="0"/>
              <a:t>12</a:t>
            </a:fld>
            <a:endParaRPr lang="en-US" dirty="0"/>
          </a:p>
        </p:txBody>
      </p:sp>
    </p:spTree>
    <p:extLst>
      <p:ext uri="{BB962C8B-B14F-4D97-AF65-F5344CB8AC3E}">
        <p14:creationId xmlns:p14="http://schemas.microsoft.com/office/powerpoint/2010/main" val="2150347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9EFB-A442-FE66-D4ED-E4F01E9A4D3C}"/>
              </a:ext>
            </a:extLst>
          </p:cNvPr>
          <p:cNvSpPr>
            <a:spLocks noGrp="1"/>
          </p:cNvSpPr>
          <p:nvPr>
            <p:ph type="title"/>
          </p:nvPr>
        </p:nvSpPr>
        <p:spPr/>
        <p:txBody>
          <a:bodyPr/>
          <a:lstStyle/>
          <a:p>
            <a:r>
              <a:rPr lang="en-US" dirty="0"/>
              <a:t>Sample Output</a:t>
            </a:r>
          </a:p>
        </p:txBody>
      </p:sp>
      <p:sp>
        <p:nvSpPr>
          <p:cNvPr id="3" name="Content Placeholder 2">
            <a:extLst>
              <a:ext uri="{FF2B5EF4-FFF2-40B4-BE49-F238E27FC236}">
                <a16:creationId xmlns:a16="http://schemas.microsoft.com/office/drawing/2014/main" id="{8BDD1782-A7BE-010A-077E-DE835A1A74AC}"/>
              </a:ext>
            </a:extLst>
          </p:cNvPr>
          <p:cNvSpPr>
            <a:spLocks noGrp="1"/>
          </p:cNvSpPr>
          <p:nvPr>
            <p:ph idx="13"/>
          </p:nvPr>
        </p:nvSpPr>
        <p:spPr/>
        <p:txBody>
          <a:bodyPr>
            <a:normAutofit fontScale="92500" lnSpcReduction="10000"/>
          </a:bodyPr>
          <a:lstStyle/>
          <a:p>
            <a:r>
              <a:rPr lang="en-US" dirty="0"/>
              <a:t>{</a:t>
            </a:r>
          </a:p>
          <a:p>
            <a:r>
              <a:rPr lang="en-US" dirty="0"/>
              <a:t>  "</a:t>
            </a:r>
            <a:r>
              <a:rPr lang="en-US" dirty="0" err="1"/>
              <a:t>compliance_score</a:t>
            </a:r>
            <a:r>
              <a:rPr lang="en-US" dirty="0"/>
              <a:t>": 2,</a:t>
            </a:r>
          </a:p>
          <a:p>
            <a:r>
              <a:rPr lang="en-US" dirty="0"/>
              <a:t>  "issues": [</a:t>
            </a:r>
          </a:p>
          <a:p>
            <a:r>
              <a:rPr lang="en-US" dirty="0"/>
              <a:t>    {"type": "SQL Injection", "line": 2, "recommendation": "Use parameterized queries"},</a:t>
            </a:r>
          </a:p>
          <a:p>
            <a:r>
              <a:rPr lang="en-US" dirty="0"/>
              <a:t>    {"type": "Hardcoded Credential", "line": 3, "recommendation": "Store passwords securely"}</a:t>
            </a:r>
          </a:p>
          <a:p>
            <a:r>
              <a:rPr lang="en-US" dirty="0"/>
              <a:t>  ]</a:t>
            </a:r>
          </a:p>
          <a:p>
            <a:r>
              <a:rPr lang="en-US" dirty="0"/>
              <a:t>}</a:t>
            </a:r>
          </a:p>
          <a:p>
            <a:r>
              <a:rPr lang="en-US" dirty="0"/>
              <a:t>Score scale: 1 = low compliance, 5 = high compliance</a:t>
            </a:r>
            <a:endParaRPr lang="ar-EG" dirty="0"/>
          </a:p>
          <a:p>
            <a:r>
              <a:rPr lang="en-US" dirty="0"/>
              <a:t>Immediate remediation suggestions provided</a:t>
            </a:r>
          </a:p>
        </p:txBody>
      </p:sp>
      <p:sp>
        <p:nvSpPr>
          <p:cNvPr id="4" name="Slide Number Placeholder 3">
            <a:extLst>
              <a:ext uri="{FF2B5EF4-FFF2-40B4-BE49-F238E27FC236}">
                <a16:creationId xmlns:a16="http://schemas.microsoft.com/office/drawing/2014/main" id="{C4A1C1C3-37A9-08F4-7CDB-72B134BB0C31}"/>
              </a:ext>
            </a:extLst>
          </p:cNvPr>
          <p:cNvSpPr>
            <a:spLocks noGrp="1"/>
          </p:cNvSpPr>
          <p:nvPr>
            <p:ph type="sldNum" sz="quarter" idx="12"/>
          </p:nvPr>
        </p:nvSpPr>
        <p:spPr/>
        <p:txBody>
          <a:bodyPr/>
          <a:lstStyle/>
          <a:p>
            <a:fld id="{CBD12358-51D2-46B3-9BDE-DF29528B9454}" type="slidenum">
              <a:rPr lang="en-US" smtClean="0"/>
              <a:t>13</a:t>
            </a:fld>
            <a:endParaRPr lang="en-US" dirty="0"/>
          </a:p>
        </p:txBody>
      </p:sp>
    </p:spTree>
    <p:extLst>
      <p:ext uri="{BB962C8B-B14F-4D97-AF65-F5344CB8AC3E}">
        <p14:creationId xmlns:p14="http://schemas.microsoft.com/office/powerpoint/2010/main" val="3400501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72FC-617E-BA0B-DE74-C004B9C833AC}"/>
              </a:ext>
            </a:extLst>
          </p:cNvPr>
          <p:cNvSpPr>
            <a:spLocks noGrp="1"/>
          </p:cNvSpPr>
          <p:nvPr>
            <p:ph type="title"/>
          </p:nvPr>
        </p:nvSpPr>
        <p:spPr/>
        <p:txBody>
          <a:bodyPr/>
          <a:lstStyle/>
          <a:p>
            <a:r>
              <a:rPr lang="en-US" dirty="0"/>
              <a:t>Key Benefits</a:t>
            </a:r>
          </a:p>
        </p:txBody>
      </p:sp>
      <p:sp>
        <p:nvSpPr>
          <p:cNvPr id="3" name="Content Placeholder 2">
            <a:extLst>
              <a:ext uri="{FF2B5EF4-FFF2-40B4-BE49-F238E27FC236}">
                <a16:creationId xmlns:a16="http://schemas.microsoft.com/office/drawing/2014/main" id="{E015F17B-2A50-C849-5F2F-334C49B16B73}"/>
              </a:ext>
            </a:extLst>
          </p:cNvPr>
          <p:cNvSpPr>
            <a:spLocks noGrp="1"/>
          </p:cNvSpPr>
          <p:nvPr>
            <p:ph idx="1"/>
          </p:nvPr>
        </p:nvSpPr>
        <p:spPr>
          <a:xfrm>
            <a:off x="3575304" y="2441448"/>
            <a:ext cx="5800608" cy="3575304"/>
          </a:xfrm>
        </p:spPr>
        <p:txBody>
          <a:bodyPr/>
          <a:lstStyle/>
          <a:p>
            <a:r>
              <a:rPr lang="en-US" dirty="0"/>
              <a:t>Real-time detection of security vulnerabilities</a:t>
            </a:r>
            <a:endParaRPr lang="ar-EG" dirty="0"/>
          </a:p>
          <a:p>
            <a:r>
              <a:rPr lang="en-US" dirty="0"/>
              <a:t>Improves secure coding practices</a:t>
            </a:r>
            <a:endParaRPr lang="ar-EG" dirty="0"/>
          </a:p>
          <a:p>
            <a:r>
              <a:rPr lang="en-US" dirty="0"/>
              <a:t>Reduces costly breaches</a:t>
            </a:r>
            <a:endParaRPr lang="ar-EG" dirty="0"/>
          </a:p>
          <a:p>
            <a:r>
              <a:rPr lang="en-US" dirty="0"/>
              <a:t>Easy CI/CD integration</a:t>
            </a:r>
            <a:endParaRPr lang="ar-EG" dirty="0"/>
          </a:p>
          <a:p>
            <a:r>
              <a:rPr lang="en-US" dirty="0"/>
              <a:t>Supports audit and compliance reporting</a:t>
            </a:r>
          </a:p>
        </p:txBody>
      </p:sp>
      <p:sp>
        <p:nvSpPr>
          <p:cNvPr id="5" name="Slide Number Placeholder 4">
            <a:extLst>
              <a:ext uri="{FF2B5EF4-FFF2-40B4-BE49-F238E27FC236}">
                <a16:creationId xmlns:a16="http://schemas.microsoft.com/office/drawing/2014/main" id="{D279604F-16D2-117C-8E96-6F03B61CB086}"/>
              </a:ext>
            </a:extLst>
          </p:cNvPr>
          <p:cNvSpPr>
            <a:spLocks noGrp="1"/>
          </p:cNvSpPr>
          <p:nvPr>
            <p:ph type="sldNum" sz="quarter" idx="12"/>
          </p:nvPr>
        </p:nvSpPr>
        <p:spPr/>
        <p:txBody>
          <a:bodyPr/>
          <a:lstStyle/>
          <a:p>
            <a:fld id="{CBD12358-51D2-46B3-9BDE-DF29528B9454}" type="slidenum">
              <a:rPr lang="en-US" smtClean="0"/>
              <a:t>14</a:t>
            </a:fld>
            <a:endParaRPr lang="en-US" dirty="0"/>
          </a:p>
        </p:txBody>
      </p:sp>
    </p:spTree>
    <p:extLst>
      <p:ext uri="{BB962C8B-B14F-4D97-AF65-F5344CB8AC3E}">
        <p14:creationId xmlns:p14="http://schemas.microsoft.com/office/powerpoint/2010/main" val="1510617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D496A-24B6-25FD-0537-98EA569FE11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84AA0D2-42B4-A750-AB15-49C436D8E525}"/>
              </a:ext>
            </a:extLst>
          </p:cNvPr>
          <p:cNvSpPr>
            <a:spLocks noGrp="1"/>
          </p:cNvSpPr>
          <p:nvPr>
            <p:ph idx="1"/>
          </p:nvPr>
        </p:nvSpPr>
        <p:spPr>
          <a:xfrm>
            <a:off x="3575304" y="2441448"/>
            <a:ext cx="5507736" cy="3575304"/>
          </a:xfrm>
        </p:spPr>
        <p:txBody>
          <a:bodyPr/>
          <a:lstStyle/>
          <a:p>
            <a:r>
              <a:rPr lang="en-US" dirty="0"/>
              <a:t>Automated PCI DSS Requirement 6 compliance checker</a:t>
            </a:r>
            <a:endParaRPr lang="ar-EG" dirty="0"/>
          </a:p>
          <a:p>
            <a:r>
              <a:rPr lang="en-US" dirty="0"/>
              <a:t>Enhances software security and developer awareness</a:t>
            </a:r>
            <a:endParaRPr lang="ar-EG" dirty="0"/>
          </a:p>
          <a:p>
            <a:r>
              <a:rPr lang="en-US" dirty="0"/>
              <a:t>Quick, actionable, and integrable solution</a:t>
            </a:r>
            <a:endParaRPr lang="ar-EG" dirty="0"/>
          </a:p>
          <a:p>
            <a:r>
              <a:rPr lang="en-US" dirty="0"/>
              <a:t>Future Scope: Include ML-driven analysis for more advanced vulnerabilities</a:t>
            </a:r>
          </a:p>
        </p:txBody>
      </p:sp>
      <p:sp>
        <p:nvSpPr>
          <p:cNvPr id="5" name="Slide Number Placeholder 4">
            <a:extLst>
              <a:ext uri="{FF2B5EF4-FFF2-40B4-BE49-F238E27FC236}">
                <a16:creationId xmlns:a16="http://schemas.microsoft.com/office/drawing/2014/main" id="{CAFB6F00-6641-1D0D-F364-02A53EF008E4}"/>
              </a:ext>
            </a:extLst>
          </p:cNvPr>
          <p:cNvSpPr>
            <a:spLocks noGrp="1"/>
          </p:cNvSpPr>
          <p:nvPr>
            <p:ph type="sldNum" sz="quarter" idx="12"/>
          </p:nvPr>
        </p:nvSpPr>
        <p:spPr/>
        <p:txBody>
          <a:bodyPr/>
          <a:lstStyle/>
          <a:p>
            <a:fld id="{CBD12358-51D2-46B3-9BDE-DF29528B9454}" type="slidenum">
              <a:rPr lang="en-US" smtClean="0"/>
              <a:t>15</a:t>
            </a:fld>
            <a:endParaRPr lang="en-US" dirty="0"/>
          </a:p>
        </p:txBody>
      </p:sp>
    </p:spTree>
    <p:extLst>
      <p:ext uri="{BB962C8B-B14F-4D97-AF65-F5344CB8AC3E}">
        <p14:creationId xmlns:p14="http://schemas.microsoft.com/office/powerpoint/2010/main" val="4185911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1133856" y="56450"/>
            <a:ext cx="9912096" cy="2743200"/>
          </a:xfrm>
          <a:noFill/>
        </p:spPr>
        <p:txBody>
          <a:bodyPr anchor="b">
            <a:noAutofit/>
          </a:bodyPr>
          <a:lstStyle/>
          <a:p>
            <a:r>
              <a:rPr lang="en-US"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type="subTitle" idx="1"/>
          </p:nvPr>
        </p:nvSpPr>
        <p:spPr>
          <a:xfrm>
            <a:off x="3575304" y="3110546"/>
            <a:ext cx="4114800" cy="2743200"/>
          </a:xfrm>
          <a:noFill/>
        </p:spPr>
        <p:txBody>
          <a:bodyPr vert="horz" lIns="91440" tIns="45720" rIns="91440" bIns="45720" rtlCol="0" anchor="t" anchorCtr="0">
            <a:normAutofit/>
          </a:bodyPr>
          <a:lstStyle/>
          <a:p>
            <a:r>
              <a:rPr lang="en-US" noProof="0" dirty="0"/>
              <a:t>Yaser srywll</a:t>
            </a:r>
          </a:p>
          <a:p>
            <a:r>
              <a:rPr lang="en-US" dirty="0"/>
              <a:t>Gehad </a:t>
            </a:r>
            <a:r>
              <a:rPr lang="en-US" dirty="0" err="1"/>
              <a:t>karam</a:t>
            </a:r>
            <a:r>
              <a:rPr lang="en-US" dirty="0"/>
              <a:t> </a:t>
            </a:r>
          </a:p>
          <a:p>
            <a:r>
              <a:rPr lang="en-US" noProof="0" dirty="0"/>
              <a:t>Mark </a:t>
            </a:r>
            <a:r>
              <a:rPr lang="en-US" noProof="0" dirty="0" err="1"/>
              <a:t>mekhael</a:t>
            </a:r>
            <a:endParaRPr lang="en-US" noProof="0" dirty="0"/>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B0C07E3D-60A7-4F4E-8208-D9CCD01982C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36</TotalTime>
  <Words>542</Words>
  <Application>Microsoft Office PowerPoint</Application>
  <PresentationFormat>Widescreen</PresentationFormat>
  <Paragraphs>110</Paragraphs>
  <Slides>16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Custom</vt:lpstr>
      <vt:lpstr>PCI DSS Requirement 6 Compliance Checker</vt:lpstr>
      <vt:lpstr>Introduction</vt:lpstr>
      <vt:lpstr>Problem Statement </vt:lpstr>
      <vt:lpstr>Solution Overview</vt:lpstr>
      <vt:lpstr>Objectives</vt:lpstr>
      <vt:lpstr>Intended Audience</vt:lpstr>
      <vt:lpstr>Success Criteria</vt:lpstr>
      <vt:lpstr>PCI DSS Overview</vt:lpstr>
      <vt:lpstr>Secure Development</vt:lpstr>
      <vt:lpstr>System Architecture</vt:lpstr>
      <vt:lpstr>Implementation </vt:lpstr>
      <vt:lpstr>Sample Code Input</vt:lpstr>
      <vt:lpstr>Sample Output</vt:lpstr>
      <vt:lpstr>Key Benefits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yaser srywll</dc:creator>
  <cp:lastModifiedBy>Mark Mekhael</cp:lastModifiedBy>
  <cp:revision>2</cp:revision>
  <dcterms:created xsi:type="dcterms:W3CDTF">2025-12-28T20:58:40Z</dcterms:created>
  <dcterms:modified xsi:type="dcterms:W3CDTF">2025-12-30T12:32:50Z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